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645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4856A"/>
                </a:solidFill>
                <a:latin typeface="Space Mono"/>
              </a:defRPr>
            </a:pPr>
            <a:r>
              <a:t>Kurumsal Kullanım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2286000"/>
            <a:ext cx="731520" cy="36576"/>
          </a:xfrm>
          <a:prstGeom prst="rect">
            <a:avLst/>
          </a:prstGeom>
          <a:solidFill>
            <a:srgbClr val="D48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56032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5600" b="1">
                <a:solidFill>
                  <a:srgbClr val="F8FAFC"/>
                </a:solidFill>
                <a:latin typeface="Outfit"/>
              </a:defRPr>
            </a:pPr>
            <a:r>
              <a:t>Yapay Zeka Ajanları</a:t>
            </a:r>
          </a:p>
          <a:p>
            <a:pPr>
              <a:spcAft>
                <a:spcPts val="400"/>
              </a:spcAft>
              <a:defRPr sz="5600" b="1">
                <a:solidFill>
                  <a:srgbClr val="F8FAFC"/>
                </a:solidFill>
                <a:latin typeface="Outfit"/>
              </a:defRPr>
            </a:pPr>
            <a:r>
              <a:t>B2B Kullanım Vakaları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029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i="1">
                <a:solidFill>
                  <a:srgbClr val="94A3B8"/>
                </a:solidFill>
                <a:latin typeface="Outfit"/>
              </a:defRPr>
            </a:pPr>
            <a:r>
              <a:t>OpenClaw &amp; Hermes ile otonom iş gücü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4856A"/>
                </a:solidFill>
                <a:latin typeface="Space Mono"/>
              </a:defRPr>
            </a:pPr>
            <a:r>
              <a:t>Finans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274320"/>
            <a:ext cx="731520" cy="36576"/>
          </a:xfrm>
          <a:prstGeom prst="rect">
            <a:avLst/>
          </a:prstGeom>
          <a:solidFill>
            <a:srgbClr val="D48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73736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4400" b="1">
                <a:solidFill>
                  <a:srgbClr val="F8FAFC"/>
                </a:solidFill>
                <a:latin typeface="Outfit"/>
              </a:defRPr>
            </a:pPr>
            <a:r>
              <a:t>Mevzuat Takip Ajanı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0040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Outfit"/>
              </a:defRPr>
            </a:pPr>
            <a:r>
              <a:t>Sorun: 3 kişilik ekip haftalık SPK/BDDK/TCMB düzenlemelerini tarıyor. 120+ sayfa/hafta.</a:t>
            </a:r>
          </a:p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Outfit"/>
              </a:defRPr>
            </a:pPr>
            <a:r>
              <a:t>Çözüm: Hermes ajanı mevzuatı otomatik tarar, ilgili maddeleri işaretler, Slack'ten gönderir.</a:t>
            </a:r>
          </a:p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Outfit"/>
              </a:defRPr>
            </a:pPr>
            <a:r>
              <a:t>Sonuç: Haftada 15 insan-saat tasarruf. Gözden kaçan düzenleme riski sıfır.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4856A"/>
                </a:solidFill>
                <a:latin typeface="Space Mono"/>
              </a:defRPr>
            </a:pPr>
            <a:r>
              <a:t>İK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274320"/>
            <a:ext cx="731520" cy="36576"/>
          </a:xfrm>
          <a:prstGeom prst="rect">
            <a:avLst/>
          </a:prstGeom>
          <a:solidFill>
            <a:srgbClr val="D48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73736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4400" b="1">
                <a:solidFill>
                  <a:srgbClr val="F8FAFC"/>
                </a:solidFill>
                <a:latin typeface="Outfit"/>
              </a:defRPr>
            </a:pPr>
            <a:r>
              <a:t>CV Ön Eleme Asistanı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0040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Outfit"/>
              </a:defRPr>
            </a:pPr>
            <a:r>
              <a:t>Sorun: Pozisyon başına 300+ başvuru, İK ekibi CV okumaktan işe odaklanamıyor.</a:t>
            </a:r>
          </a:p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Outfit"/>
              </a:defRPr>
            </a:pPr>
            <a:r>
              <a:t>Çözüm: Hermes ajanı CV'leri kriterlere göre puanlar, uygun adayları sıralar.</a:t>
            </a:r>
          </a:p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Outfit"/>
              </a:defRPr>
            </a:pPr>
            <a:r>
              <a:t>Sonuç: Ön eleme 3 günden 2 saate indi. Yanlış eleme %15'ten %3'e düştü.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4856A"/>
                </a:solidFill>
                <a:latin typeface="Space Mono"/>
              </a:defRPr>
            </a:pPr>
            <a:r>
              <a:t>BT Operasyon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274320"/>
            <a:ext cx="731520" cy="36576"/>
          </a:xfrm>
          <a:prstGeom prst="rect">
            <a:avLst/>
          </a:prstGeom>
          <a:solidFill>
            <a:srgbClr val="D48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73736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4400" b="1">
                <a:solidFill>
                  <a:srgbClr val="F8FAFC"/>
                </a:solidFill>
                <a:latin typeface="Outfit"/>
              </a:defRPr>
            </a:pPr>
            <a:r>
              <a:t>Incident Response Ajanı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0040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Outfit"/>
              </a:defRPr>
            </a:pPr>
            <a:r>
              <a:t>Sorun: Gece 3'te gelen sunucu alarmına 30 dk içinde müdahale gerekiyor.</a:t>
            </a:r>
          </a:p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Outfit"/>
              </a:defRPr>
            </a:pPr>
            <a:r>
              <a:t>Çözüm: Hermes alarmı alır, log'ları tarar, kök neden analizi yapar, çözer veya bildirir.</a:t>
            </a:r>
          </a:p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Outfit"/>
              </a:defRPr>
            </a:pPr>
            <a:r>
              <a:t>Sonuç: Müdahale süresi 5 dk'ya indi. Kritik olmayan alarmların %70'i insansız çözülüyor.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4856A"/>
                </a:solidFill>
                <a:latin typeface="Space Mono"/>
              </a:defRPr>
            </a:pPr>
            <a:r>
              <a:t>Hukuk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274320"/>
            <a:ext cx="731520" cy="36576"/>
          </a:xfrm>
          <a:prstGeom prst="rect">
            <a:avLst/>
          </a:prstGeom>
          <a:solidFill>
            <a:srgbClr val="D48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73736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4400" b="1">
                <a:solidFill>
                  <a:srgbClr val="F8FAFC"/>
                </a:solidFill>
                <a:latin typeface="Outfit"/>
              </a:defRPr>
            </a:pPr>
            <a:r>
              <a:t>Sözleşme İnceleme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0040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Outfit"/>
              </a:defRPr>
            </a:pPr>
            <a:r>
              <a:t>Sorun: Her sözleşme 2-3 saat avukat mesaisi. Standart maddeler tekrar tekrar okunuyor.</a:t>
            </a:r>
          </a:p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Outfit"/>
              </a:defRPr>
            </a:pPr>
            <a:r>
              <a:t>Çözüm: Ajan sözleşmeyi tarar, riskli maddeleri işaretler, avukata özet sunar.</a:t>
            </a:r>
          </a:p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Outfit"/>
              </a:defRPr>
            </a:pPr>
            <a:r>
              <a:t>Sonuç: Sözleşme başına 2 saat tasarruf. Avukatlar sadece riskli maddelere odaklanıyor.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4856A"/>
                </a:solidFill>
                <a:latin typeface="Space Mono"/>
              </a:defRPr>
            </a:pPr>
            <a:r>
              <a:t>Satış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274320"/>
            <a:ext cx="731520" cy="36576"/>
          </a:xfrm>
          <a:prstGeom prst="rect">
            <a:avLst/>
          </a:prstGeom>
          <a:solidFill>
            <a:srgbClr val="D48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73736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4400" b="1">
                <a:solidFill>
                  <a:srgbClr val="F8FAFC"/>
                </a:solidFill>
                <a:latin typeface="Outfit"/>
              </a:defRPr>
            </a:pPr>
            <a:r>
              <a:t>Müşteri İçgörü Raporu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0040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Outfit"/>
              </a:defRPr>
            </a:pPr>
            <a:r>
              <a:t>Sorun: Satış görüşmesi öncesi müşteri hakkında bilgi toplamak 45 dk sürüyor.</a:t>
            </a:r>
          </a:p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Outfit"/>
              </a:defRPr>
            </a:pPr>
            <a:r>
              <a:t>Çözüm: Ajan CRM, haberler, LinkedIn tarar, tek sayfalık brifing hazırlar, WhatsApp'tan gönderir.</a:t>
            </a:r>
          </a:p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Outfit"/>
              </a:defRPr>
            </a:pPr>
            <a:r>
              <a:t>Sonuç: Görüşme hazırlığı 45 dk'dan 2 dk'ya. Kapanan anlaşma oranı %22 arttı.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4856A"/>
                </a:solidFill>
                <a:latin typeface="Space Mono"/>
              </a:defRPr>
            </a:pPr>
            <a:r>
              <a:t>Kamu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274320"/>
            <a:ext cx="731520" cy="36576"/>
          </a:xfrm>
          <a:prstGeom prst="rect">
            <a:avLst/>
          </a:prstGeom>
          <a:solidFill>
            <a:srgbClr val="D48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73736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4400" b="1">
                <a:solidFill>
                  <a:srgbClr val="F8FAFC"/>
                </a:solidFill>
                <a:latin typeface="Outfit"/>
              </a:defRPr>
            </a:pPr>
            <a:r>
              <a:t>Vatandaş Başvuru Ön İşleme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0040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Outfit"/>
              </a:defRPr>
            </a:pPr>
            <a:r>
              <a:t>Sorun: Günlük 500+ başvuru manuel sınıflandırılıp yönlendiriliyor.</a:t>
            </a:r>
          </a:p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Outfit"/>
              </a:defRPr>
            </a:pPr>
            <a:r>
              <a:t>Çözüm: Ajan başvuruyu okur, sınıflandırır, eksik evrak varsa bilgilendirir, yönlendirir.</a:t>
            </a:r>
          </a:p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Outfit"/>
              </a:defRPr>
            </a:pPr>
            <a:r>
              <a:t>Sonuç: İşlem süresi 3 günden 4 saate indi. Vatandaş memnuniyeti arttı.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645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4856A"/>
                </a:solidFill>
                <a:latin typeface="Space Mono"/>
              </a:defRPr>
            </a:pPr>
            <a:r>
              <a:t>Sonraki Adım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2286000"/>
            <a:ext cx="731520" cy="36576"/>
          </a:xfrm>
          <a:prstGeom prst="rect">
            <a:avLst/>
          </a:prstGeom>
          <a:solidFill>
            <a:srgbClr val="D48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56032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5600" b="1">
                <a:solidFill>
                  <a:srgbClr val="F8FAFC"/>
                </a:solidFill>
                <a:latin typeface="Outfit"/>
              </a:defRPr>
            </a:pPr>
            <a:r>
              <a:t>Kurumunuza Özel</a:t>
            </a:r>
          </a:p>
          <a:p>
            <a:pPr>
              <a:spcAft>
                <a:spcPts val="400"/>
              </a:spcAft>
              <a:defRPr sz="5600" b="1">
                <a:solidFill>
                  <a:srgbClr val="F8FAFC"/>
                </a:solidFill>
                <a:latin typeface="Outfit"/>
              </a:defRPr>
            </a:pPr>
            <a:r>
              <a:t>Çözüm İçin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029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i="1">
                <a:solidFill>
                  <a:srgbClr val="94A3B8"/>
                </a:solidFill>
                <a:latin typeface="Outfit"/>
              </a:defRPr>
            </a:pPr>
            <a:r>
              <a:t>github.com/murataslan1/kamuyz-agent-starter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